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753600" cy="7315200"/>
  <p:notesSz cx="6858000" cy="9144000"/>
  <p:embeddedFontLst>
    <p:embeddedFont>
      <p:font typeface="Anonymous Pro" panose="02060609030202000504" pitchFamily="49" charset="0"/>
      <p:regular r:id="rId16"/>
    </p:embeddedFont>
    <p:embeddedFont>
      <p:font typeface="Anonymous Pro Bold" panose="02060809030202000504" pitchFamily="49"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601" autoAdjust="0"/>
  </p:normalViewPr>
  <p:slideViewPr>
    <p:cSldViewPr>
      <p:cViewPr varScale="1">
        <p:scale>
          <a:sx n="97" d="100"/>
          <a:sy n="97" d="100"/>
        </p:scale>
        <p:origin x="1896"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github.com/eteitelbaum/wb_data_dive"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https://uidai.gov.in/images/Aadhaar_Saturation_Report_31032024.pdf"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publicadministration.un.org/egovkb/en-us/Data-Center"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2505156" y="1619088"/>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3" name="Freeform 3"/>
          <p:cNvSpPr/>
          <p:nvPr/>
        </p:nvSpPr>
        <p:spPr>
          <a:xfrm>
            <a:off x="-2752644"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4" name="Freeform 4"/>
          <p:cNvSpPr/>
          <p:nvPr/>
        </p:nvSpPr>
        <p:spPr>
          <a:xfrm>
            <a:off x="-2295444"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5" name="Freeform 5"/>
          <p:cNvSpPr/>
          <p:nvPr/>
        </p:nvSpPr>
        <p:spPr>
          <a:xfrm>
            <a:off x="7724856"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6" name="Freeform 6"/>
          <p:cNvSpPr/>
          <p:nvPr/>
        </p:nvSpPr>
        <p:spPr>
          <a:xfrm>
            <a:off x="7381875" y="450191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7" name="TextBox 7"/>
          <p:cNvSpPr txBox="1"/>
          <p:nvPr/>
        </p:nvSpPr>
        <p:spPr>
          <a:xfrm>
            <a:off x="559518" y="1378423"/>
            <a:ext cx="8860858" cy="1412240"/>
          </a:xfrm>
          <a:prstGeom prst="rect">
            <a:avLst/>
          </a:prstGeom>
        </p:spPr>
        <p:txBody>
          <a:bodyPr lIns="0" tIns="0" rIns="0" bIns="0" rtlCol="0" anchor="t">
            <a:spAutoFit/>
          </a:bodyPr>
          <a:lstStyle/>
          <a:p>
            <a:pPr algn="ctr">
              <a:lnSpc>
                <a:spcPts val="5634"/>
              </a:lnSpc>
            </a:pPr>
            <a:r>
              <a:rPr lang="en-US" sz="4025" b="1" spc="1247">
                <a:solidFill>
                  <a:srgbClr val="FFFFFF"/>
                </a:solidFill>
                <a:latin typeface="Anonymous Pro Bold"/>
                <a:ea typeface="Anonymous Pro Bold"/>
                <a:cs typeface="Anonymous Pro Bold"/>
                <a:sym typeface="Anonymous Pro Bold"/>
              </a:rPr>
              <a:t>DIGITAL TRANSFORMATION</a:t>
            </a:r>
          </a:p>
        </p:txBody>
      </p:sp>
      <p:sp>
        <p:nvSpPr>
          <p:cNvPr id="8" name="TextBox 8"/>
          <p:cNvSpPr txBox="1"/>
          <p:nvPr/>
        </p:nvSpPr>
        <p:spPr>
          <a:xfrm>
            <a:off x="6915382" y="3112050"/>
            <a:ext cx="2504994" cy="3541098"/>
          </a:xfrm>
          <a:prstGeom prst="rect">
            <a:avLst/>
          </a:prstGeom>
        </p:spPr>
        <p:txBody>
          <a:bodyPr lIns="0" tIns="0" rIns="0" bIns="0" rtlCol="0" anchor="t">
            <a:spAutoFit/>
          </a:bodyPr>
          <a:lstStyle/>
          <a:p>
            <a:pPr algn="ctr">
              <a:lnSpc>
                <a:spcPts val="3123"/>
              </a:lnSpc>
              <a:spcBef>
                <a:spcPct val="0"/>
              </a:spcBef>
            </a:pPr>
            <a:r>
              <a:rPr lang="en-US" sz="2231" spc="22" dirty="0">
                <a:solidFill>
                  <a:srgbClr val="FFFFFF"/>
                </a:solidFill>
                <a:latin typeface="Anonymous Pro"/>
                <a:ea typeface="Anonymous Pro"/>
                <a:cs typeface="Anonymous Pro"/>
                <a:sym typeface="Anonymous Pro"/>
              </a:rPr>
              <a:t>Deepika Ghotra</a:t>
            </a:r>
          </a:p>
          <a:p>
            <a:pPr algn="ctr">
              <a:lnSpc>
                <a:spcPts val="3123"/>
              </a:lnSpc>
              <a:spcBef>
                <a:spcPct val="0"/>
              </a:spcBef>
            </a:pPr>
            <a:r>
              <a:rPr lang="en-US" sz="2231" spc="22" dirty="0">
                <a:solidFill>
                  <a:srgbClr val="FFFFFF"/>
                </a:solidFill>
                <a:latin typeface="Anonymous Pro"/>
                <a:ea typeface="Anonymous Pro"/>
                <a:cs typeface="Anonymous Pro"/>
                <a:sym typeface="Anonymous Pro"/>
              </a:rPr>
              <a:t>Whitney Kim</a:t>
            </a:r>
          </a:p>
          <a:p>
            <a:pPr algn="ctr">
              <a:lnSpc>
                <a:spcPts val="3123"/>
              </a:lnSpc>
              <a:spcBef>
                <a:spcPct val="0"/>
              </a:spcBef>
            </a:pPr>
            <a:r>
              <a:rPr lang="en-US" sz="2231" spc="22" dirty="0">
                <a:solidFill>
                  <a:srgbClr val="FFFFFF"/>
                </a:solidFill>
                <a:latin typeface="Anonymous Pro"/>
                <a:ea typeface="Anonymous Pro"/>
                <a:cs typeface="Anonymous Pro"/>
                <a:sym typeface="Anonymous Pro"/>
              </a:rPr>
              <a:t>Manny</a:t>
            </a:r>
          </a:p>
          <a:p>
            <a:pPr algn="ctr">
              <a:lnSpc>
                <a:spcPts val="3123"/>
              </a:lnSpc>
              <a:spcBef>
                <a:spcPct val="0"/>
              </a:spcBef>
            </a:pPr>
            <a:r>
              <a:rPr lang="en-US" sz="2231" spc="22" dirty="0">
                <a:solidFill>
                  <a:srgbClr val="FFFFFF"/>
                </a:solidFill>
                <a:latin typeface="Anonymous Pro"/>
                <a:ea typeface="Anonymous Pro"/>
                <a:cs typeface="Anonymous Pro"/>
                <a:sym typeface="Anonymous Pro"/>
              </a:rPr>
              <a:t>Aditya</a:t>
            </a:r>
          </a:p>
          <a:p>
            <a:pPr algn="ctr">
              <a:lnSpc>
                <a:spcPts val="3123"/>
              </a:lnSpc>
              <a:spcBef>
                <a:spcPct val="0"/>
              </a:spcBef>
            </a:pPr>
            <a:r>
              <a:rPr lang="en-US" sz="2231" spc="22" dirty="0">
                <a:solidFill>
                  <a:srgbClr val="FFFFFF"/>
                </a:solidFill>
                <a:latin typeface="Anonymous Pro"/>
                <a:ea typeface="Anonymous Pro"/>
                <a:cs typeface="Anonymous Pro"/>
                <a:sym typeface="Anonymous Pro"/>
              </a:rPr>
              <a:t>Greg</a:t>
            </a:r>
          </a:p>
          <a:p>
            <a:pPr algn="ctr">
              <a:lnSpc>
                <a:spcPts val="3123"/>
              </a:lnSpc>
              <a:spcBef>
                <a:spcPct val="0"/>
              </a:spcBef>
            </a:pPr>
            <a:r>
              <a:rPr lang="en-US" sz="2231" spc="22" dirty="0">
                <a:solidFill>
                  <a:srgbClr val="FFFFFF"/>
                </a:solidFill>
                <a:latin typeface="Anonymous Pro"/>
                <a:ea typeface="Anonymous Pro"/>
                <a:cs typeface="Anonymous Pro"/>
                <a:sym typeface="Anonymous Pro"/>
              </a:rPr>
              <a:t>Vansh Kumar</a:t>
            </a:r>
          </a:p>
          <a:p>
            <a:pPr algn="ctr">
              <a:lnSpc>
                <a:spcPts val="3123"/>
              </a:lnSpc>
              <a:spcBef>
                <a:spcPct val="0"/>
              </a:spcBef>
            </a:pPr>
            <a:r>
              <a:rPr lang="en-US" sz="2231" spc="22" dirty="0">
                <a:solidFill>
                  <a:srgbClr val="FFFFFF"/>
                </a:solidFill>
                <a:latin typeface="Anonymous Pro"/>
                <a:ea typeface="Anonymous Pro"/>
                <a:cs typeface="Anonymous Pro"/>
                <a:sym typeface="Anonymous Pro"/>
              </a:rPr>
              <a:t>Kunal</a:t>
            </a:r>
          </a:p>
          <a:p>
            <a:pPr algn="ctr">
              <a:lnSpc>
                <a:spcPts val="3123"/>
              </a:lnSpc>
              <a:spcBef>
                <a:spcPct val="0"/>
              </a:spcBef>
            </a:pPr>
            <a:r>
              <a:rPr lang="en-US" sz="2231" spc="22" dirty="0">
                <a:solidFill>
                  <a:srgbClr val="FFFFFF"/>
                </a:solidFill>
                <a:latin typeface="Anonymous Pro"/>
                <a:ea typeface="Anonymous Pro"/>
                <a:cs typeface="Anonymous Pro"/>
                <a:sym typeface="Anonymous Pro"/>
              </a:rPr>
              <a:t>Savera Shah</a:t>
            </a:r>
          </a:p>
          <a:p>
            <a:pPr algn="ctr">
              <a:lnSpc>
                <a:spcPts val="3123"/>
              </a:lnSpc>
              <a:spcBef>
                <a:spcPct val="0"/>
              </a:spcBef>
            </a:pPr>
            <a:r>
              <a:rPr lang="en-US" sz="2231" spc="22" dirty="0">
                <a:solidFill>
                  <a:srgbClr val="FFFFFF"/>
                </a:solidFill>
                <a:latin typeface="Anonymous Pro"/>
                <a:ea typeface="Anonymous Pro"/>
                <a:cs typeface="Anonymous Pro"/>
                <a:sym typeface="Anonymous Pro"/>
              </a:rPr>
              <a:t>Pearce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2505156" y="1619088"/>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3" name="TextBox 3"/>
          <p:cNvSpPr txBox="1"/>
          <p:nvPr/>
        </p:nvSpPr>
        <p:spPr>
          <a:xfrm>
            <a:off x="446371" y="1714201"/>
            <a:ext cx="8860858" cy="3978276"/>
          </a:xfrm>
          <a:prstGeom prst="rect">
            <a:avLst/>
          </a:prstGeom>
        </p:spPr>
        <p:txBody>
          <a:bodyPr lIns="0" tIns="0" rIns="0" bIns="0" rtlCol="0" anchor="t">
            <a:spAutoFit/>
          </a:bodyPr>
          <a:lstStyle/>
          <a:p>
            <a:pPr marL="431794" lvl="1" indent="-215897" algn="ctr">
              <a:lnSpc>
                <a:spcPts val="2799"/>
              </a:lnSpc>
              <a:buFont typeface="Arial"/>
              <a:buChar char="•"/>
            </a:pPr>
            <a:r>
              <a:rPr lang="en-US" sz="1999" b="1">
                <a:solidFill>
                  <a:srgbClr val="FFFFFF"/>
                </a:solidFill>
                <a:latin typeface="Anonymous Pro Bold"/>
                <a:ea typeface="Anonymous Pro Bold"/>
                <a:cs typeface="Anonymous Pro Bold"/>
                <a:sym typeface="Anonymous Pro Bold"/>
              </a:rPr>
              <a:t>CHALLENGE: </a:t>
            </a:r>
          </a:p>
          <a:p>
            <a:pPr marL="949946" lvl="2" indent="-316649" algn="ctr">
              <a:lnSpc>
                <a:spcPts val="3079"/>
              </a:lnSpc>
              <a:buFont typeface="Arial"/>
              <a:buChar char="⚬"/>
            </a:pPr>
            <a:r>
              <a:rPr lang="en-US" sz="2199" b="1" u="sng">
                <a:solidFill>
                  <a:srgbClr val="FFFFFF"/>
                </a:solidFill>
                <a:latin typeface="Anonymous Pro Bold"/>
                <a:ea typeface="Anonymous Pro Bold"/>
                <a:cs typeface="Anonymous Pro Bold"/>
                <a:sym typeface="Anonymous Pro Bold"/>
              </a:rPr>
              <a:t>How can governments utilize blockchain technology to ensure the integrity and transparency of public records and transactions? </a:t>
            </a:r>
          </a:p>
          <a:p>
            <a:pPr marL="863588" lvl="2" indent="-287863" algn="ctr">
              <a:lnSpc>
                <a:spcPts val="2799"/>
              </a:lnSpc>
              <a:buFont typeface="Arial"/>
              <a:buChar char="⚬"/>
            </a:pPr>
            <a:r>
              <a:rPr lang="en-US" sz="1999" b="1">
                <a:solidFill>
                  <a:srgbClr val="FFFFFF"/>
                </a:solidFill>
                <a:latin typeface="Anonymous Pro Bold"/>
                <a:ea typeface="Anonymous Pro Bold"/>
                <a:cs typeface="Anonymous Pro Bold"/>
                <a:sym typeface="Anonymous Pro Bold"/>
              </a:rPr>
              <a:t>What are the advantages and potential shortcomings of using generative AI to process and analyze large datasets for improving public service delivery? </a:t>
            </a:r>
          </a:p>
          <a:p>
            <a:pPr marL="863588" lvl="2" indent="-287863" algn="ctr">
              <a:lnSpc>
                <a:spcPts val="2799"/>
              </a:lnSpc>
              <a:buFont typeface="Arial"/>
              <a:buChar char="⚬"/>
            </a:pPr>
            <a:r>
              <a:rPr lang="en-US" sz="1999" b="1">
                <a:solidFill>
                  <a:srgbClr val="FFFFFF"/>
                </a:solidFill>
                <a:latin typeface="Anonymous Pro Bold"/>
                <a:ea typeface="Anonymous Pro Bold"/>
                <a:cs typeface="Anonymous Pro Bold"/>
                <a:sym typeface="Anonymous Pro Bold"/>
              </a:rPr>
              <a:t>What strategies can be employed to bridge the digital divide and ensure equitable access to digital services for all citizens?</a:t>
            </a:r>
          </a:p>
          <a:p>
            <a:pPr algn="ctr">
              <a:lnSpc>
                <a:spcPts val="2799"/>
              </a:lnSpc>
            </a:pPr>
            <a:endParaRPr lang="en-US" sz="1999" b="1">
              <a:solidFill>
                <a:srgbClr val="FFFFFF"/>
              </a:solidFill>
              <a:latin typeface="Anonymous Pro Bold"/>
              <a:ea typeface="Anonymous Pro Bold"/>
              <a:cs typeface="Anonymous Pro Bold"/>
              <a:sym typeface="Anonymous Pro Bold"/>
            </a:endParaRPr>
          </a:p>
        </p:txBody>
      </p:sp>
      <p:sp>
        <p:nvSpPr>
          <p:cNvPr id="4" name="Freeform 4"/>
          <p:cNvSpPr/>
          <p:nvPr/>
        </p:nvSpPr>
        <p:spPr>
          <a:xfrm>
            <a:off x="-2752644"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5" name="Freeform 5"/>
          <p:cNvSpPr/>
          <p:nvPr/>
        </p:nvSpPr>
        <p:spPr>
          <a:xfrm>
            <a:off x="-2295444"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6" name="Freeform 6"/>
          <p:cNvSpPr/>
          <p:nvPr/>
        </p:nvSpPr>
        <p:spPr>
          <a:xfrm>
            <a:off x="7724856"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7" name="Freeform 7"/>
          <p:cNvSpPr/>
          <p:nvPr/>
        </p:nvSpPr>
        <p:spPr>
          <a:xfrm>
            <a:off x="7724856"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2505156" y="1619088"/>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3" name="TextBox 3"/>
          <p:cNvSpPr txBox="1"/>
          <p:nvPr/>
        </p:nvSpPr>
        <p:spPr>
          <a:xfrm>
            <a:off x="466617" y="984811"/>
            <a:ext cx="8860858" cy="1412240"/>
          </a:xfrm>
          <a:prstGeom prst="rect">
            <a:avLst/>
          </a:prstGeom>
        </p:spPr>
        <p:txBody>
          <a:bodyPr lIns="0" tIns="0" rIns="0" bIns="0" rtlCol="0" anchor="t">
            <a:spAutoFit/>
          </a:bodyPr>
          <a:lstStyle/>
          <a:p>
            <a:pPr algn="ctr">
              <a:lnSpc>
                <a:spcPts val="5634"/>
              </a:lnSpc>
            </a:pPr>
            <a:r>
              <a:rPr lang="en-US" sz="4025" b="1" spc="1247">
                <a:solidFill>
                  <a:srgbClr val="FFFFFF"/>
                </a:solidFill>
                <a:latin typeface="Anonymous Pro Bold"/>
                <a:ea typeface="Anonymous Pro Bold"/>
                <a:cs typeface="Anonymous Pro Bold"/>
                <a:sym typeface="Anonymous Pro Bold"/>
              </a:rPr>
              <a:t>LEVERAGE OF BLOCKCHAIN? </a:t>
            </a:r>
          </a:p>
        </p:txBody>
      </p:sp>
      <p:sp>
        <p:nvSpPr>
          <p:cNvPr id="4" name="Freeform 4"/>
          <p:cNvSpPr/>
          <p:nvPr/>
        </p:nvSpPr>
        <p:spPr>
          <a:xfrm>
            <a:off x="-2752644"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5" name="Freeform 5"/>
          <p:cNvSpPr/>
          <p:nvPr/>
        </p:nvSpPr>
        <p:spPr>
          <a:xfrm>
            <a:off x="-2295444"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6" name="Freeform 6"/>
          <p:cNvSpPr/>
          <p:nvPr/>
        </p:nvSpPr>
        <p:spPr>
          <a:xfrm>
            <a:off x="7724856"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7" name="Freeform 7"/>
          <p:cNvSpPr/>
          <p:nvPr/>
        </p:nvSpPr>
        <p:spPr>
          <a:xfrm>
            <a:off x="7724856"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8" name="Freeform 8"/>
          <p:cNvSpPr/>
          <p:nvPr/>
        </p:nvSpPr>
        <p:spPr>
          <a:xfrm>
            <a:off x="0" y="3424493"/>
            <a:ext cx="9791164" cy="3904901"/>
          </a:xfrm>
          <a:custGeom>
            <a:avLst/>
            <a:gdLst/>
            <a:ahLst/>
            <a:cxnLst/>
            <a:rect l="l" t="t" r="r" b="b"/>
            <a:pathLst>
              <a:path w="9791164" h="3904901">
                <a:moveTo>
                  <a:pt x="0" y="0"/>
                </a:moveTo>
                <a:lnTo>
                  <a:pt x="9791164" y="0"/>
                </a:lnTo>
                <a:lnTo>
                  <a:pt x="9791164" y="3904902"/>
                </a:lnTo>
                <a:lnTo>
                  <a:pt x="0" y="3904902"/>
                </a:lnTo>
                <a:lnTo>
                  <a:pt x="0" y="0"/>
                </a:lnTo>
                <a:close/>
              </a:path>
            </a:pathLst>
          </a:custGeom>
          <a:blipFill>
            <a:blip r:embed="rId4">
              <a:extLst>
                <a:ext uri="{96DAC541-7B7A-43D3-8B79-37D633B846F1}">
                  <asvg:svgBlip xmlns:asvg="http://schemas.microsoft.com/office/drawing/2016/SVG/main" r:embed="rId5"/>
                </a:ext>
              </a:extLst>
            </a:blip>
            <a:stretch>
              <a:fillRect t="-75370" b="-75370"/>
            </a:stretch>
          </a:blipFill>
        </p:spPr>
      </p:sp>
      <p:sp>
        <p:nvSpPr>
          <p:cNvPr id="9" name="TextBox 9"/>
          <p:cNvSpPr txBox="1"/>
          <p:nvPr/>
        </p:nvSpPr>
        <p:spPr>
          <a:xfrm>
            <a:off x="466617" y="4171375"/>
            <a:ext cx="8905875" cy="2111057"/>
          </a:xfrm>
          <a:prstGeom prst="rect">
            <a:avLst/>
          </a:prstGeom>
        </p:spPr>
        <p:txBody>
          <a:bodyPr lIns="0" tIns="0" rIns="0" bIns="0" rtlCol="0" anchor="t">
            <a:spAutoFit/>
          </a:bodyPr>
          <a:lstStyle/>
          <a:p>
            <a:pPr algn="ctr">
              <a:lnSpc>
                <a:spcPts val="2817"/>
              </a:lnSpc>
            </a:pPr>
            <a:r>
              <a:rPr lang="en-US" sz="2012" spc="20">
                <a:solidFill>
                  <a:srgbClr val="26499E"/>
                </a:solidFill>
                <a:latin typeface="Anonymous Pro"/>
                <a:ea typeface="Anonymous Pro"/>
                <a:cs typeface="Anonymous Pro"/>
                <a:sym typeface="Anonymous Pro"/>
              </a:rPr>
              <a:t>Governments can leverage blockchain technology to enhance the integrity and transparency of public records and transactions in several ways. Blockchain’s key features—decentralization, immutability, and transparency—make it an ideal tool for creating secure, tamper-proof systems for managing government data and ensuring accountability.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531235" y="1570186"/>
            <a:ext cx="8691130" cy="4606774"/>
          </a:xfrm>
          <a:custGeom>
            <a:avLst/>
            <a:gdLst/>
            <a:ahLst/>
            <a:cxnLst/>
            <a:rect l="l" t="t" r="r" b="b"/>
            <a:pathLst>
              <a:path w="8691130" h="4606774">
                <a:moveTo>
                  <a:pt x="0" y="0"/>
                </a:moveTo>
                <a:lnTo>
                  <a:pt x="8691130" y="0"/>
                </a:lnTo>
                <a:lnTo>
                  <a:pt x="8691130" y="4606774"/>
                </a:lnTo>
                <a:lnTo>
                  <a:pt x="0" y="4606774"/>
                </a:lnTo>
                <a:lnTo>
                  <a:pt x="0" y="0"/>
                </a:lnTo>
                <a:close/>
              </a:path>
            </a:pathLst>
          </a:custGeom>
          <a:blipFill>
            <a:blip r:embed="rId2"/>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2505156" y="1619088"/>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3" name="TextBox 3"/>
          <p:cNvSpPr txBox="1"/>
          <p:nvPr/>
        </p:nvSpPr>
        <p:spPr>
          <a:xfrm>
            <a:off x="457119" y="851461"/>
            <a:ext cx="8860858" cy="697865"/>
          </a:xfrm>
          <a:prstGeom prst="rect">
            <a:avLst/>
          </a:prstGeom>
        </p:spPr>
        <p:txBody>
          <a:bodyPr lIns="0" tIns="0" rIns="0" bIns="0" rtlCol="0" anchor="t">
            <a:spAutoFit/>
          </a:bodyPr>
          <a:lstStyle/>
          <a:p>
            <a:pPr algn="ctr">
              <a:lnSpc>
                <a:spcPts val="5634"/>
              </a:lnSpc>
            </a:pPr>
            <a:r>
              <a:rPr lang="en-US" sz="4025" b="1" spc="1247">
                <a:solidFill>
                  <a:srgbClr val="FFFFFF"/>
                </a:solidFill>
                <a:latin typeface="Anonymous Pro Bold"/>
                <a:ea typeface="Anonymous Pro Bold"/>
                <a:cs typeface="Anonymous Pro Bold"/>
                <a:sym typeface="Anonymous Pro Bold"/>
              </a:rPr>
              <a:t>CHARACTERISTICS</a:t>
            </a:r>
          </a:p>
        </p:txBody>
      </p:sp>
      <p:sp>
        <p:nvSpPr>
          <p:cNvPr id="4" name="Freeform 4"/>
          <p:cNvSpPr/>
          <p:nvPr/>
        </p:nvSpPr>
        <p:spPr>
          <a:xfrm>
            <a:off x="-2752644"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5" name="Freeform 5"/>
          <p:cNvSpPr/>
          <p:nvPr/>
        </p:nvSpPr>
        <p:spPr>
          <a:xfrm>
            <a:off x="-2295444"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6" name="Freeform 6"/>
          <p:cNvSpPr/>
          <p:nvPr/>
        </p:nvSpPr>
        <p:spPr>
          <a:xfrm>
            <a:off x="7724856"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7" name="Freeform 7"/>
          <p:cNvSpPr/>
          <p:nvPr/>
        </p:nvSpPr>
        <p:spPr>
          <a:xfrm>
            <a:off x="7724856"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grpSp>
        <p:nvGrpSpPr>
          <p:cNvPr id="8" name="Group 8"/>
          <p:cNvGrpSpPr>
            <a:grpSpLocks noChangeAspect="1"/>
          </p:cNvGrpSpPr>
          <p:nvPr/>
        </p:nvGrpSpPr>
        <p:grpSpPr>
          <a:xfrm>
            <a:off x="590874" y="2914649"/>
            <a:ext cx="1395422" cy="1395421"/>
            <a:chOff x="0" y="0"/>
            <a:chExt cx="6350000" cy="6350000"/>
          </a:xfrm>
        </p:grpSpPr>
        <p:sp>
          <p:nvSpPr>
            <p:cNvPr id="9" name="Freeform 9"/>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FFFFFF"/>
            </a:solidFill>
          </p:spPr>
        </p:sp>
      </p:grpSp>
      <p:sp>
        <p:nvSpPr>
          <p:cNvPr id="10" name="TextBox 10"/>
          <p:cNvSpPr txBox="1"/>
          <p:nvPr/>
        </p:nvSpPr>
        <p:spPr>
          <a:xfrm>
            <a:off x="761244" y="3486120"/>
            <a:ext cx="1096461" cy="215050"/>
          </a:xfrm>
          <a:prstGeom prst="rect">
            <a:avLst/>
          </a:prstGeom>
        </p:spPr>
        <p:txBody>
          <a:bodyPr lIns="0" tIns="0" rIns="0" bIns="0" rtlCol="0" anchor="t">
            <a:spAutoFit/>
          </a:bodyPr>
          <a:lstStyle/>
          <a:p>
            <a:pPr algn="ctr">
              <a:lnSpc>
                <a:spcPts val="1796"/>
              </a:lnSpc>
            </a:pPr>
            <a:r>
              <a:rPr lang="en-US" sz="1283" b="1" spc="12">
                <a:solidFill>
                  <a:srgbClr val="26499E"/>
                </a:solidFill>
                <a:latin typeface="Anonymous Pro Bold"/>
                <a:ea typeface="Anonymous Pro Bold"/>
                <a:cs typeface="Anonymous Pro Bold"/>
                <a:sym typeface="Anonymous Pro Bold"/>
              </a:rPr>
              <a:t>Transparancy</a:t>
            </a:r>
          </a:p>
        </p:txBody>
      </p:sp>
      <p:grpSp>
        <p:nvGrpSpPr>
          <p:cNvPr id="11" name="Group 11"/>
          <p:cNvGrpSpPr>
            <a:grpSpLocks noChangeAspect="1"/>
          </p:cNvGrpSpPr>
          <p:nvPr/>
        </p:nvGrpSpPr>
        <p:grpSpPr>
          <a:xfrm>
            <a:off x="600416" y="4685651"/>
            <a:ext cx="1395422" cy="1395421"/>
            <a:chOff x="0" y="0"/>
            <a:chExt cx="6350000" cy="6350000"/>
          </a:xfrm>
        </p:grpSpPr>
        <p:sp>
          <p:nvSpPr>
            <p:cNvPr id="12" name="Freeform 12"/>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FFFFFF"/>
            </a:solidFill>
          </p:spPr>
        </p:sp>
      </p:grpSp>
      <p:sp>
        <p:nvSpPr>
          <p:cNvPr id="13" name="TextBox 13"/>
          <p:cNvSpPr txBox="1"/>
          <p:nvPr/>
        </p:nvSpPr>
        <p:spPr>
          <a:xfrm>
            <a:off x="749896" y="5225988"/>
            <a:ext cx="1096461" cy="333160"/>
          </a:xfrm>
          <a:prstGeom prst="rect">
            <a:avLst/>
          </a:prstGeom>
        </p:spPr>
        <p:txBody>
          <a:bodyPr lIns="0" tIns="0" rIns="0" bIns="0" rtlCol="0" anchor="t">
            <a:spAutoFit/>
          </a:bodyPr>
          <a:lstStyle/>
          <a:p>
            <a:pPr algn="ctr">
              <a:lnSpc>
                <a:spcPts val="2636"/>
              </a:lnSpc>
            </a:pPr>
            <a:r>
              <a:rPr lang="en-US" sz="1883" b="1" spc="18">
                <a:solidFill>
                  <a:srgbClr val="26499E"/>
                </a:solidFill>
                <a:latin typeface="Anonymous Pro Bold"/>
                <a:ea typeface="Anonymous Pro Bold"/>
                <a:cs typeface="Anonymous Pro Bold"/>
                <a:sym typeface="Anonymous Pro Bold"/>
              </a:rPr>
              <a:t>Security</a:t>
            </a:r>
          </a:p>
        </p:txBody>
      </p:sp>
      <p:sp>
        <p:nvSpPr>
          <p:cNvPr id="14" name="TextBox 14"/>
          <p:cNvSpPr txBox="1"/>
          <p:nvPr/>
        </p:nvSpPr>
        <p:spPr>
          <a:xfrm>
            <a:off x="2267280" y="3083056"/>
            <a:ext cx="2552700" cy="1782077"/>
          </a:xfrm>
          <a:prstGeom prst="rect">
            <a:avLst/>
          </a:prstGeom>
        </p:spPr>
        <p:txBody>
          <a:bodyPr lIns="0" tIns="0" rIns="0" bIns="0" rtlCol="0" anchor="t">
            <a:spAutoFit/>
          </a:bodyPr>
          <a:lstStyle/>
          <a:p>
            <a:pPr marL="261780" lvl="1" indent="-130890" algn="l">
              <a:lnSpc>
                <a:spcPts val="1697"/>
              </a:lnSpc>
              <a:buFont typeface="Arial"/>
              <a:buChar char="•"/>
            </a:pPr>
            <a:r>
              <a:rPr lang="en-US" sz="1212" spc="12">
                <a:solidFill>
                  <a:srgbClr val="FFFFFF"/>
                </a:solidFill>
                <a:latin typeface="Anonymous Pro"/>
                <a:ea typeface="Anonymous Pro"/>
                <a:cs typeface="Anonymous Pro"/>
                <a:sym typeface="Anonymous Pro"/>
              </a:rPr>
              <a:t> Blockchain provides a public, immutable record of all transactions, which makes it easier for citizens to verify the integrity of government actions and public resources.</a:t>
            </a:r>
          </a:p>
          <a:p>
            <a:pPr algn="l">
              <a:lnSpc>
                <a:spcPts val="437"/>
              </a:lnSpc>
            </a:pPr>
            <a:endParaRPr lang="en-US" sz="1212" spc="12">
              <a:solidFill>
                <a:srgbClr val="FFFFFF"/>
              </a:solidFill>
              <a:latin typeface="Anonymous Pro"/>
              <a:ea typeface="Anonymous Pro"/>
              <a:cs typeface="Anonymous Pro"/>
              <a:sym typeface="Anonymous Pro"/>
            </a:endParaRPr>
          </a:p>
        </p:txBody>
      </p:sp>
      <p:sp>
        <p:nvSpPr>
          <p:cNvPr id="15" name="TextBox 15"/>
          <p:cNvSpPr txBox="1"/>
          <p:nvPr/>
        </p:nvSpPr>
        <p:spPr>
          <a:xfrm>
            <a:off x="2266950" y="4845209"/>
            <a:ext cx="2743675" cy="1488122"/>
          </a:xfrm>
          <a:prstGeom prst="rect">
            <a:avLst/>
          </a:prstGeom>
        </p:spPr>
        <p:txBody>
          <a:bodyPr lIns="0" tIns="0" rIns="0" bIns="0" rtlCol="0" anchor="t">
            <a:spAutoFit/>
          </a:bodyPr>
          <a:lstStyle/>
          <a:p>
            <a:pPr marL="304961" lvl="1" indent="-152481" algn="l">
              <a:lnSpc>
                <a:spcPts val="1977"/>
              </a:lnSpc>
              <a:buFont typeface="Arial"/>
              <a:buChar char="•"/>
            </a:pPr>
            <a:r>
              <a:rPr lang="en-US" sz="1412" spc="14">
                <a:solidFill>
                  <a:srgbClr val="FFFFFF"/>
                </a:solidFill>
                <a:latin typeface="Anonymous Pro"/>
                <a:ea typeface="Anonymous Pro"/>
                <a:cs typeface="Anonymous Pro"/>
                <a:sym typeface="Anonymous Pro"/>
              </a:rPr>
              <a:t>Blockchain's decentralized nature and encryption make it resistant to hacking and fraud.</a:t>
            </a:r>
          </a:p>
          <a:p>
            <a:pPr algn="l">
              <a:lnSpc>
                <a:spcPts val="1977"/>
              </a:lnSpc>
            </a:pPr>
            <a:endParaRPr lang="en-US" sz="1412" spc="14">
              <a:solidFill>
                <a:srgbClr val="FFFFFF"/>
              </a:solidFill>
              <a:latin typeface="Anonymous Pro"/>
              <a:ea typeface="Anonymous Pro"/>
              <a:cs typeface="Anonymous Pro"/>
              <a:sym typeface="Anonymous Pro"/>
            </a:endParaRPr>
          </a:p>
        </p:txBody>
      </p:sp>
      <p:grpSp>
        <p:nvGrpSpPr>
          <p:cNvPr id="16" name="Group 16"/>
          <p:cNvGrpSpPr>
            <a:grpSpLocks noChangeAspect="1"/>
          </p:cNvGrpSpPr>
          <p:nvPr/>
        </p:nvGrpSpPr>
        <p:grpSpPr>
          <a:xfrm>
            <a:off x="5067312" y="2914647"/>
            <a:ext cx="1404963" cy="1404962"/>
            <a:chOff x="0" y="0"/>
            <a:chExt cx="6350000" cy="6350000"/>
          </a:xfrm>
        </p:grpSpPr>
        <p:sp>
          <p:nvSpPr>
            <p:cNvPr id="17" name="Freeform 17"/>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FFFFFF"/>
            </a:solidFill>
          </p:spPr>
        </p:sp>
      </p:grpSp>
      <p:sp>
        <p:nvSpPr>
          <p:cNvPr id="18" name="TextBox 18"/>
          <p:cNvSpPr txBox="1"/>
          <p:nvPr/>
        </p:nvSpPr>
        <p:spPr>
          <a:xfrm>
            <a:off x="5277325" y="3486120"/>
            <a:ext cx="1096461" cy="191555"/>
          </a:xfrm>
          <a:prstGeom prst="rect">
            <a:avLst/>
          </a:prstGeom>
        </p:spPr>
        <p:txBody>
          <a:bodyPr lIns="0" tIns="0" rIns="0" bIns="0" rtlCol="0" anchor="t">
            <a:spAutoFit/>
          </a:bodyPr>
          <a:lstStyle/>
          <a:p>
            <a:pPr algn="ctr">
              <a:lnSpc>
                <a:spcPts val="1516"/>
              </a:lnSpc>
            </a:pPr>
            <a:r>
              <a:rPr lang="en-US" sz="1083" b="1" spc="10">
                <a:solidFill>
                  <a:srgbClr val="26499E"/>
                </a:solidFill>
                <a:latin typeface="Anonymous Pro Bold"/>
                <a:ea typeface="Anonymous Pro Bold"/>
                <a:cs typeface="Anonymous Pro Bold"/>
                <a:sym typeface="Anonymous Pro Bold"/>
              </a:rPr>
              <a:t>Accountability</a:t>
            </a:r>
          </a:p>
        </p:txBody>
      </p:sp>
      <p:grpSp>
        <p:nvGrpSpPr>
          <p:cNvPr id="19" name="Group 19"/>
          <p:cNvGrpSpPr>
            <a:grpSpLocks noChangeAspect="1"/>
          </p:cNvGrpSpPr>
          <p:nvPr/>
        </p:nvGrpSpPr>
        <p:grpSpPr>
          <a:xfrm>
            <a:off x="5076853" y="4685649"/>
            <a:ext cx="1395422" cy="1395421"/>
            <a:chOff x="0" y="0"/>
            <a:chExt cx="6350000" cy="6350000"/>
          </a:xfrm>
        </p:grpSpPr>
        <p:sp>
          <p:nvSpPr>
            <p:cNvPr id="20" name="Freeform 20"/>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FFFFFF"/>
            </a:solidFill>
          </p:spPr>
        </p:sp>
      </p:grpSp>
      <p:sp>
        <p:nvSpPr>
          <p:cNvPr id="21" name="TextBox 21"/>
          <p:cNvSpPr txBox="1"/>
          <p:nvPr/>
        </p:nvSpPr>
        <p:spPr>
          <a:xfrm>
            <a:off x="5277325" y="5301553"/>
            <a:ext cx="1096461" cy="257595"/>
          </a:xfrm>
          <a:prstGeom prst="rect">
            <a:avLst/>
          </a:prstGeom>
        </p:spPr>
        <p:txBody>
          <a:bodyPr lIns="0" tIns="0" rIns="0" bIns="0" rtlCol="0" anchor="t">
            <a:spAutoFit/>
          </a:bodyPr>
          <a:lstStyle/>
          <a:p>
            <a:pPr algn="ctr">
              <a:lnSpc>
                <a:spcPts val="2076"/>
              </a:lnSpc>
            </a:pPr>
            <a:r>
              <a:rPr lang="en-US" sz="1483" b="1" spc="14">
                <a:solidFill>
                  <a:srgbClr val="26499E"/>
                </a:solidFill>
                <a:latin typeface="Anonymous Pro Bold"/>
                <a:ea typeface="Anonymous Pro Bold"/>
                <a:cs typeface="Anonymous Pro Bold"/>
                <a:sym typeface="Anonymous Pro Bold"/>
              </a:rPr>
              <a:t>Efficiency</a:t>
            </a:r>
          </a:p>
        </p:txBody>
      </p:sp>
      <p:sp>
        <p:nvSpPr>
          <p:cNvPr id="22" name="TextBox 22"/>
          <p:cNvSpPr txBox="1"/>
          <p:nvPr/>
        </p:nvSpPr>
        <p:spPr>
          <a:xfrm>
            <a:off x="6743717" y="3073529"/>
            <a:ext cx="2552700" cy="1604962"/>
          </a:xfrm>
          <a:prstGeom prst="rect">
            <a:avLst/>
          </a:prstGeom>
        </p:spPr>
        <p:txBody>
          <a:bodyPr lIns="0" tIns="0" rIns="0" bIns="0" rtlCol="0" anchor="t">
            <a:spAutoFit/>
          </a:bodyPr>
          <a:lstStyle/>
          <a:p>
            <a:pPr marL="283372" lvl="1" indent="-141686" algn="l">
              <a:lnSpc>
                <a:spcPts val="1837"/>
              </a:lnSpc>
              <a:buFont typeface="Arial"/>
              <a:buChar char="•"/>
            </a:pPr>
            <a:r>
              <a:rPr lang="en-US" sz="1312" spc="13">
                <a:solidFill>
                  <a:srgbClr val="FFFFFF"/>
                </a:solidFill>
                <a:latin typeface="Anonymous Pro"/>
                <a:ea typeface="Anonymous Pro"/>
                <a:cs typeface="Anonymous Pro"/>
                <a:sym typeface="Anonymous Pro"/>
              </a:rPr>
              <a:t> By ensuring that transactions cannot be altered after the fact, blockchain enhances accountability in government processes.</a:t>
            </a:r>
          </a:p>
          <a:p>
            <a:pPr algn="l">
              <a:lnSpc>
                <a:spcPts val="1837"/>
              </a:lnSpc>
            </a:pPr>
            <a:endParaRPr lang="en-US" sz="1312" spc="13">
              <a:solidFill>
                <a:srgbClr val="FFFFFF"/>
              </a:solidFill>
              <a:latin typeface="Anonymous Pro"/>
              <a:ea typeface="Anonymous Pro"/>
              <a:cs typeface="Anonymous Pro"/>
              <a:sym typeface="Anonymous Pro"/>
            </a:endParaRPr>
          </a:p>
        </p:txBody>
      </p:sp>
      <p:sp>
        <p:nvSpPr>
          <p:cNvPr id="23" name="TextBox 23"/>
          <p:cNvSpPr txBox="1"/>
          <p:nvPr/>
        </p:nvSpPr>
        <p:spPr>
          <a:xfrm>
            <a:off x="6743717" y="4845206"/>
            <a:ext cx="2533650" cy="1599882"/>
          </a:xfrm>
          <a:prstGeom prst="rect">
            <a:avLst/>
          </a:prstGeom>
        </p:spPr>
        <p:txBody>
          <a:bodyPr lIns="0" tIns="0" rIns="0" bIns="0" rtlCol="0" anchor="t">
            <a:spAutoFit/>
          </a:bodyPr>
          <a:lstStyle/>
          <a:p>
            <a:pPr algn="l">
              <a:lnSpc>
                <a:spcPts val="2117"/>
              </a:lnSpc>
            </a:pPr>
            <a:r>
              <a:rPr lang="en-US" sz="1512" spc="15">
                <a:solidFill>
                  <a:srgbClr val="FFFFFF"/>
                </a:solidFill>
                <a:latin typeface="Anonymous Pro"/>
                <a:ea typeface="Anonymous Pro"/>
                <a:cs typeface="Anonymous Pro"/>
                <a:sym typeface="Anonymous Pro"/>
              </a:rPr>
              <a:t>Blockchain can automate processes and reduce the administrative burden, improving service delivery and reducing costs.</a:t>
            </a:r>
          </a:p>
        </p:txBody>
      </p:sp>
      <p:sp>
        <p:nvSpPr>
          <p:cNvPr id="24" name="TextBox 24"/>
          <p:cNvSpPr txBox="1"/>
          <p:nvPr/>
        </p:nvSpPr>
        <p:spPr>
          <a:xfrm>
            <a:off x="2239642" y="6804938"/>
            <a:ext cx="5372100" cy="183991"/>
          </a:xfrm>
          <a:prstGeom prst="rect">
            <a:avLst/>
          </a:prstGeom>
        </p:spPr>
        <p:txBody>
          <a:bodyPr lIns="0" tIns="0" rIns="0" bIns="0" rtlCol="0" anchor="t">
            <a:spAutoFit/>
          </a:bodyPr>
          <a:lstStyle/>
          <a:p>
            <a:pPr algn="ctr">
              <a:lnSpc>
                <a:spcPts val="1408"/>
              </a:lnSpc>
            </a:pPr>
            <a:r>
              <a:rPr lang="en-US" sz="1006" spc="10">
                <a:solidFill>
                  <a:srgbClr val="FFFFFF"/>
                </a:solidFill>
                <a:latin typeface="Anonymous Pro"/>
                <a:ea typeface="Anonymous Pro"/>
                <a:cs typeface="Anonymous Pro"/>
                <a:sym typeface="Anonymous Pro"/>
              </a:rPr>
              <a:t>http://ishk.com/HumanJourney/FirstTechnologies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2828966" y="1766304"/>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3" name="Freeform 3"/>
          <p:cNvSpPr/>
          <p:nvPr/>
        </p:nvSpPr>
        <p:spPr>
          <a:xfrm>
            <a:off x="-2752644"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4" name="TextBox 4"/>
          <p:cNvSpPr txBox="1"/>
          <p:nvPr/>
        </p:nvSpPr>
        <p:spPr>
          <a:xfrm>
            <a:off x="731520" y="2733513"/>
            <a:ext cx="2660314" cy="383088"/>
          </a:xfrm>
          <a:prstGeom prst="rect">
            <a:avLst/>
          </a:prstGeom>
        </p:spPr>
        <p:txBody>
          <a:bodyPr lIns="0" tIns="0" rIns="0" bIns="0" rtlCol="0" anchor="t">
            <a:spAutoFit/>
          </a:bodyPr>
          <a:lstStyle/>
          <a:p>
            <a:pPr algn="ctr">
              <a:lnSpc>
                <a:spcPts val="3034"/>
              </a:lnSpc>
            </a:pPr>
            <a:r>
              <a:rPr lang="en-US" sz="2167" b="1" spc="672">
                <a:solidFill>
                  <a:srgbClr val="FFFFFF"/>
                </a:solidFill>
                <a:latin typeface="Anonymous Pro Bold"/>
                <a:ea typeface="Anonymous Pro Bold"/>
                <a:cs typeface="Anonymous Pro Bold"/>
                <a:sym typeface="Anonymous Pro Bold"/>
              </a:rPr>
              <a:t>ID4D MAPS</a:t>
            </a:r>
          </a:p>
        </p:txBody>
      </p:sp>
      <p:sp>
        <p:nvSpPr>
          <p:cNvPr id="5" name="Freeform 5"/>
          <p:cNvSpPr/>
          <p:nvPr/>
        </p:nvSpPr>
        <p:spPr>
          <a:xfrm>
            <a:off x="-2066925" y="400353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6" name="Freeform 6"/>
          <p:cNvSpPr/>
          <p:nvPr/>
        </p:nvSpPr>
        <p:spPr>
          <a:xfrm>
            <a:off x="7724856"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7" name="Freeform 7"/>
          <p:cNvSpPr/>
          <p:nvPr/>
        </p:nvSpPr>
        <p:spPr>
          <a:xfrm>
            <a:off x="7724856"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8" name="Freeform 8"/>
          <p:cNvSpPr/>
          <p:nvPr/>
        </p:nvSpPr>
        <p:spPr>
          <a:xfrm>
            <a:off x="4151148" y="5223"/>
            <a:ext cx="5602452" cy="7315837"/>
          </a:xfrm>
          <a:custGeom>
            <a:avLst/>
            <a:gdLst/>
            <a:ahLst/>
            <a:cxnLst/>
            <a:rect l="l" t="t" r="r" b="b"/>
            <a:pathLst>
              <a:path w="5602452" h="7315837">
                <a:moveTo>
                  <a:pt x="0" y="0"/>
                </a:moveTo>
                <a:lnTo>
                  <a:pt x="5602452" y="0"/>
                </a:lnTo>
                <a:lnTo>
                  <a:pt x="5602452" y="7315837"/>
                </a:lnTo>
                <a:lnTo>
                  <a:pt x="0" y="7315837"/>
                </a:lnTo>
                <a:lnTo>
                  <a:pt x="0" y="0"/>
                </a:lnTo>
                <a:close/>
              </a:path>
            </a:pathLst>
          </a:custGeom>
          <a:blipFill>
            <a:blip r:embed="rId4">
              <a:extLst>
                <a:ext uri="{96DAC541-7B7A-43D3-8B79-37D633B846F1}">
                  <asvg:svgBlip xmlns:asvg="http://schemas.microsoft.com/office/drawing/2016/SVG/main" r:embed="rId5"/>
                </a:ext>
              </a:extLst>
            </a:blip>
            <a:stretch>
              <a:fillRect l="-15291" r="-15291"/>
            </a:stretch>
          </a:blipFill>
        </p:spPr>
      </p:sp>
      <p:sp>
        <p:nvSpPr>
          <p:cNvPr id="9" name="TextBox 9"/>
          <p:cNvSpPr txBox="1"/>
          <p:nvPr/>
        </p:nvSpPr>
        <p:spPr>
          <a:xfrm>
            <a:off x="4729105" y="2485195"/>
            <a:ext cx="4652214" cy="1518342"/>
          </a:xfrm>
          <a:prstGeom prst="rect">
            <a:avLst/>
          </a:prstGeom>
        </p:spPr>
        <p:txBody>
          <a:bodyPr lIns="0" tIns="0" rIns="0" bIns="0" rtlCol="0" anchor="t">
            <a:spAutoFit/>
          </a:bodyPr>
          <a:lstStyle/>
          <a:p>
            <a:pPr algn="l">
              <a:lnSpc>
                <a:spcPts val="2411"/>
              </a:lnSpc>
            </a:pPr>
            <a:endParaRPr/>
          </a:p>
          <a:p>
            <a:pPr algn="l">
              <a:lnSpc>
                <a:spcPts val="2411"/>
              </a:lnSpc>
            </a:pPr>
            <a:r>
              <a:rPr lang="en-US" sz="1722" b="1" spc="-227">
                <a:solidFill>
                  <a:srgbClr val="26499E"/>
                </a:solidFill>
                <a:latin typeface="Anonymous Pro Bold"/>
                <a:ea typeface="Anonymous Pro Bold"/>
                <a:cs typeface="Anonymous Pro Bold"/>
                <a:sym typeface="Anonymous Pro Bold"/>
              </a:rPr>
              <a:t>Source: Github repo for ID4D maps made with R: </a:t>
            </a:r>
            <a:r>
              <a:rPr lang="en-US" sz="1722" b="1" u="sng" spc="-227">
                <a:solidFill>
                  <a:srgbClr val="26499E"/>
                </a:solidFill>
                <a:latin typeface="Anonymous Pro Bold"/>
                <a:ea typeface="Anonymous Pro Bold"/>
                <a:cs typeface="Anonymous Pro Bold"/>
                <a:sym typeface="Anonymous Pro Bold"/>
                <a:hlinkClick r:id="rId6" tooltip="https://github.com/eteitelbaum/wb_data_dive"/>
              </a:rPr>
              <a:t>https://github.com/eteitelbaum/wb_data_dive</a:t>
            </a:r>
          </a:p>
          <a:p>
            <a:pPr algn="l">
              <a:lnSpc>
                <a:spcPts val="2411"/>
              </a:lnSpc>
            </a:pPr>
            <a:endParaRPr lang="en-US" sz="1722" b="1" u="sng" spc="-227">
              <a:solidFill>
                <a:srgbClr val="26499E"/>
              </a:solidFill>
              <a:latin typeface="Anonymous Pro Bold"/>
              <a:ea typeface="Anonymous Pro Bold"/>
              <a:cs typeface="Anonymous Pro Bold"/>
              <a:sym typeface="Anonymous Pro Bold"/>
              <a:hlinkClick r:id="rId6" tooltip="https://github.com/eteitelbaum/wb_data_dive"/>
            </a:endParaRPr>
          </a:p>
          <a:p>
            <a:pPr algn="l">
              <a:lnSpc>
                <a:spcPts val="2411"/>
              </a:lnSpc>
            </a:pPr>
            <a:endParaRPr lang="en-US" sz="1722" b="1" u="sng" spc="-227">
              <a:solidFill>
                <a:srgbClr val="26499E"/>
              </a:solidFill>
              <a:latin typeface="Anonymous Pro Bold"/>
              <a:ea typeface="Anonymous Pro Bold"/>
              <a:cs typeface="Anonymous Pro Bold"/>
              <a:sym typeface="Anonymous Pro Bold"/>
              <a:hlinkClick r:id="rId6" tooltip="https://github.com/eteitelbaum/wb_data_div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575054" y="1901684"/>
            <a:ext cx="8788268" cy="4802532"/>
          </a:xfrm>
          <a:custGeom>
            <a:avLst/>
            <a:gdLst/>
            <a:ahLst/>
            <a:cxnLst/>
            <a:rect l="l" t="t" r="r" b="b"/>
            <a:pathLst>
              <a:path w="8788268" h="4802532">
                <a:moveTo>
                  <a:pt x="0" y="0"/>
                </a:moveTo>
                <a:lnTo>
                  <a:pt x="8788268" y="0"/>
                </a:lnTo>
                <a:lnTo>
                  <a:pt x="8788268" y="4802531"/>
                </a:lnTo>
                <a:lnTo>
                  <a:pt x="0" y="4802531"/>
                </a:lnTo>
                <a:lnTo>
                  <a:pt x="0" y="0"/>
                </a:lnTo>
                <a:close/>
              </a:path>
            </a:pathLst>
          </a:custGeom>
          <a:blipFill>
            <a:blip r:embed="rId2"/>
            <a:stretch>
              <a:fillRect t="-13041"/>
            </a:stretch>
          </a:blipFill>
        </p:spPr>
      </p:sp>
      <p:sp>
        <p:nvSpPr>
          <p:cNvPr id="3" name="TextBox 3"/>
          <p:cNvSpPr txBox="1"/>
          <p:nvPr/>
        </p:nvSpPr>
        <p:spPr>
          <a:xfrm>
            <a:off x="394586" y="85800"/>
            <a:ext cx="9149205" cy="1722597"/>
          </a:xfrm>
          <a:prstGeom prst="rect">
            <a:avLst/>
          </a:prstGeom>
        </p:spPr>
        <p:txBody>
          <a:bodyPr lIns="0" tIns="0" rIns="0" bIns="0" rtlCol="0" anchor="t">
            <a:spAutoFit/>
          </a:bodyPr>
          <a:lstStyle/>
          <a:p>
            <a:pPr algn="ctr">
              <a:lnSpc>
                <a:spcPts val="2703"/>
              </a:lnSpc>
              <a:spcBef>
                <a:spcPct val="0"/>
              </a:spcBef>
            </a:pPr>
            <a:r>
              <a:rPr lang="en-US" sz="1931" b="1" spc="19">
                <a:solidFill>
                  <a:srgbClr val="FFFFFF"/>
                </a:solidFill>
                <a:latin typeface="Anonymous Pro Bold"/>
                <a:ea typeface="Anonymous Pro Bold"/>
                <a:cs typeface="Anonymous Pro Bold"/>
                <a:sym typeface="Anonymous Pro Bold"/>
              </a:rPr>
              <a:t>Map 1: Birth Certification % - The percentage of children under age 5 whose births were registered at the time of the survey and whose birth certificate was seen by the interviewer or whose mother or caretaker says that a birth certificate has been issued for the child.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898993" y="1494123"/>
            <a:ext cx="8239035" cy="5089557"/>
          </a:xfrm>
          <a:custGeom>
            <a:avLst/>
            <a:gdLst/>
            <a:ahLst/>
            <a:cxnLst/>
            <a:rect l="l" t="t" r="r" b="b"/>
            <a:pathLst>
              <a:path w="8239035" h="5089557">
                <a:moveTo>
                  <a:pt x="0" y="0"/>
                </a:moveTo>
                <a:lnTo>
                  <a:pt x="8239035" y="0"/>
                </a:lnTo>
                <a:lnTo>
                  <a:pt x="8239035" y="5089557"/>
                </a:lnTo>
                <a:lnTo>
                  <a:pt x="0" y="5089557"/>
                </a:lnTo>
                <a:lnTo>
                  <a:pt x="0" y="0"/>
                </a:lnTo>
                <a:close/>
              </a:path>
            </a:pathLst>
          </a:custGeom>
          <a:blipFill>
            <a:blip r:embed="rId2"/>
            <a:stretch>
              <a:fillRect/>
            </a:stretch>
          </a:blipFill>
        </p:spPr>
      </p:sp>
      <p:sp>
        <p:nvSpPr>
          <p:cNvPr id="3" name="TextBox 3"/>
          <p:cNvSpPr txBox="1"/>
          <p:nvPr/>
        </p:nvSpPr>
        <p:spPr>
          <a:xfrm>
            <a:off x="0" y="319372"/>
            <a:ext cx="9298075" cy="772003"/>
          </a:xfrm>
          <a:prstGeom prst="rect">
            <a:avLst/>
          </a:prstGeom>
        </p:spPr>
        <p:txBody>
          <a:bodyPr lIns="0" tIns="0" rIns="0" bIns="0" rtlCol="0" anchor="t">
            <a:spAutoFit/>
          </a:bodyPr>
          <a:lstStyle/>
          <a:p>
            <a:pPr algn="ctr">
              <a:lnSpc>
                <a:spcPts val="3123"/>
              </a:lnSpc>
              <a:spcBef>
                <a:spcPct val="0"/>
              </a:spcBef>
            </a:pPr>
            <a:r>
              <a:rPr lang="en-US" sz="2231" b="1" spc="22">
                <a:solidFill>
                  <a:srgbClr val="FFFFFF"/>
                </a:solidFill>
                <a:latin typeface="Anonymous Pro Bold"/>
                <a:ea typeface="Anonymous Pro Bold"/>
                <a:cs typeface="Anonymous Pro Bold"/>
                <a:sym typeface="Anonymous Pro Bold"/>
              </a:rPr>
              <a:t>Map 2: Digital Data Use - Records are stored in a digital format, rather than in paper records or ledgers.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876906" y="1882659"/>
            <a:ext cx="8239035" cy="5089557"/>
          </a:xfrm>
          <a:custGeom>
            <a:avLst/>
            <a:gdLst/>
            <a:ahLst/>
            <a:cxnLst/>
            <a:rect l="l" t="t" r="r" b="b"/>
            <a:pathLst>
              <a:path w="8239035" h="5089557">
                <a:moveTo>
                  <a:pt x="0" y="0"/>
                </a:moveTo>
                <a:lnTo>
                  <a:pt x="8239035" y="0"/>
                </a:lnTo>
                <a:lnTo>
                  <a:pt x="8239035" y="5089557"/>
                </a:lnTo>
                <a:lnTo>
                  <a:pt x="0" y="5089557"/>
                </a:lnTo>
                <a:lnTo>
                  <a:pt x="0" y="0"/>
                </a:lnTo>
                <a:close/>
              </a:path>
            </a:pathLst>
          </a:custGeom>
          <a:blipFill>
            <a:blip r:embed="rId2"/>
            <a:stretch>
              <a:fillRect/>
            </a:stretch>
          </a:blipFill>
        </p:spPr>
      </p:sp>
      <p:sp>
        <p:nvSpPr>
          <p:cNvPr id="3" name="TextBox 3"/>
          <p:cNvSpPr txBox="1"/>
          <p:nvPr/>
        </p:nvSpPr>
        <p:spPr>
          <a:xfrm>
            <a:off x="0" y="174880"/>
            <a:ext cx="9639763" cy="1479802"/>
          </a:xfrm>
          <a:prstGeom prst="rect">
            <a:avLst/>
          </a:prstGeom>
        </p:spPr>
        <p:txBody>
          <a:bodyPr lIns="0" tIns="0" rIns="0" bIns="0" rtlCol="0" anchor="t">
            <a:spAutoFit/>
          </a:bodyPr>
          <a:lstStyle/>
          <a:p>
            <a:pPr algn="ctr">
              <a:lnSpc>
                <a:spcPts val="2961"/>
              </a:lnSpc>
              <a:spcBef>
                <a:spcPct val="0"/>
              </a:spcBef>
            </a:pPr>
            <a:r>
              <a:rPr lang="en-US" sz="2115" b="1" spc="21">
                <a:solidFill>
                  <a:srgbClr val="FFFFFF"/>
                </a:solidFill>
                <a:latin typeface="Anonymous Pro Bold"/>
                <a:ea typeface="Anonymous Pro Bold"/>
                <a:cs typeface="Anonymous Pro Bold"/>
                <a:sym typeface="Anonymous Pro Bold"/>
              </a:rPr>
              <a:t>Map 3: Digital ID Verification - Identities and/or identity information (e.g., name, date of birth, etc.) can be verified or authenticated using digital—rather than manual—means in the context of in-person transactions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731520" y="1829070"/>
            <a:ext cx="8290560" cy="5121386"/>
          </a:xfrm>
          <a:custGeom>
            <a:avLst/>
            <a:gdLst/>
            <a:ahLst/>
            <a:cxnLst/>
            <a:rect l="l" t="t" r="r" b="b"/>
            <a:pathLst>
              <a:path w="8290560" h="5121386">
                <a:moveTo>
                  <a:pt x="0" y="0"/>
                </a:moveTo>
                <a:lnTo>
                  <a:pt x="8290560" y="0"/>
                </a:lnTo>
                <a:lnTo>
                  <a:pt x="8290560" y="5121386"/>
                </a:lnTo>
                <a:lnTo>
                  <a:pt x="0" y="5121386"/>
                </a:lnTo>
                <a:lnTo>
                  <a:pt x="0" y="0"/>
                </a:lnTo>
                <a:close/>
              </a:path>
            </a:pathLst>
          </a:custGeom>
          <a:blipFill>
            <a:blip r:embed="rId2"/>
            <a:stretch>
              <a:fillRect/>
            </a:stretch>
          </a:blipFill>
        </p:spPr>
      </p:sp>
      <p:sp>
        <p:nvSpPr>
          <p:cNvPr id="3" name="TextBox 3"/>
          <p:cNvSpPr txBox="1"/>
          <p:nvPr/>
        </p:nvSpPr>
        <p:spPr>
          <a:xfrm>
            <a:off x="0" y="182233"/>
            <a:ext cx="9539235" cy="1553053"/>
          </a:xfrm>
          <a:prstGeom prst="rect">
            <a:avLst/>
          </a:prstGeom>
        </p:spPr>
        <p:txBody>
          <a:bodyPr lIns="0" tIns="0" rIns="0" bIns="0" rtlCol="0" anchor="t">
            <a:spAutoFit/>
          </a:bodyPr>
          <a:lstStyle/>
          <a:p>
            <a:pPr algn="ctr">
              <a:lnSpc>
                <a:spcPts val="3123"/>
              </a:lnSpc>
              <a:spcBef>
                <a:spcPct val="0"/>
              </a:spcBef>
            </a:pPr>
            <a:r>
              <a:rPr lang="en-US" sz="2231" b="1" spc="22">
                <a:solidFill>
                  <a:srgbClr val="FFFFFF"/>
                </a:solidFill>
                <a:latin typeface="Anonymous Pro Bold"/>
                <a:ea typeface="Anonymous Pro Bold"/>
                <a:cs typeface="Anonymous Pro Bold"/>
                <a:sym typeface="Anonymous Pro Bold"/>
              </a:rPr>
              <a:t>Map 4: Online Digital Identity - There is a system or systems that provide credentials that enable people to securely authenticate themselves remotely, to access online services and transactions.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2828966" y="1766304"/>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3" name="Freeform 3"/>
          <p:cNvSpPr/>
          <p:nvPr/>
        </p:nvSpPr>
        <p:spPr>
          <a:xfrm>
            <a:off x="-2752644"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4" name="TextBox 4"/>
          <p:cNvSpPr txBox="1"/>
          <p:nvPr/>
        </p:nvSpPr>
        <p:spPr>
          <a:xfrm>
            <a:off x="731520" y="2733513"/>
            <a:ext cx="2660314" cy="1526088"/>
          </a:xfrm>
          <a:prstGeom prst="rect">
            <a:avLst/>
          </a:prstGeom>
        </p:spPr>
        <p:txBody>
          <a:bodyPr lIns="0" tIns="0" rIns="0" bIns="0" rtlCol="0" anchor="t">
            <a:spAutoFit/>
          </a:bodyPr>
          <a:lstStyle/>
          <a:p>
            <a:pPr algn="ctr">
              <a:lnSpc>
                <a:spcPts val="3034"/>
              </a:lnSpc>
            </a:pPr>
            <a:r>
              <a:rPr lang="en-US" sz="2167" b="1" spc="672">
                <a:solidFill>
                  <a:srgbClr val="FFFFFF"/>
                </a:solidFill>
                <a:latin typeface="Anonymous Pro Bold"/>
                <a:ea typeface="Anonymous Pro Bold"/>
                <a:cs typeface="Anonymous Pro Bold"/>
                <a:sym typeface="Anonymous Pro Bold"/>
              </a:rPr>
              <a:t>HERE’S HOW GOVERNMENTS CAN USE IT:</a:t>
            </a:r>
          </a:p>
          <a:p>
            <a:pPr algn="ctr">
              <a:lnSpc>
                <a:spcPts val="3034"/>
              </a:lnSpc>
            </a:pPr>
            <a:endParaRPr lang="en-US" sz="2167" b="1" spc="672">
              <a:solidFill>
                <a:srgbClr val="FFFFFF"/>
              </a:solidFill>
              <a:latin typeface="Anonymous Pro Bold"/>
              <a:ea typeface="Anonymous Pro Bold"/>
              <a:cs typeface="Anonymous Pro Bold"/>
              <a:sym typeface="Anonymous Pro Bold"/>
            </a:endParaRPr>
          </a:p>
        </p:txBody>
      </p:sp>
      <p:sp>
        <p:nvSpPr>
          <p:cNvPr id="5" name="Freeform 5"/>
          <p:cNvSpPr/>
          <p:nvPr/>
        </p:nvSpPr>
        <p:spPr>
          <a:xfrm>
            <a:off x="-2066925" y="400353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6" name="Freeform 6"/>
          <p:cNvSpPr/>
          <p:nvPr/>
        </p:nvSpPr>
        <p:spPr>
          <a:xfrm>
            <a:off x="7724856"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7" name="Freeform 7"/>
          <p:cNvSpPr/>
          <p:nvPr/>
        </p:nvSpPr>
        <p:spPr>
          <a:xfrm>
            <a:off x="7724856"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8" name="Freeform 8"/>
          <p:cNvSpPr/>
          <p:nvPr/>
        </p:nvSpPr>
        <p:spPr>
          <a:xfrm>
            <a:off x="4151148" y="5223"/>
            <a:ext cx="5602452" cy="7315837"/>
          </a:xfrm>
          <a:custGeom>
            <a:avLst/>
            <a:gdLst/>
            <a:ahLst/>
            <a:cxnLst/>
            <a:rect l="l" t="t" r="r" b="b"/>
            <a:pathLst>
              <a:path w="5602452" h="7315837">
                <a:moveTo>
                  <a:pt x="0" y="0"/>
                </a:moveTo>
                <a:lnTo>
                  <a:pt x="5602452" y="0"/>
                </a:lnTo>
                <a:lnTo>
                  <a:pt x="5602452" y="7315837"/>
                </a:lnTo>
                <a:lnTo>
                  <a:pt x="0" y="7315837"/>
                </a:lnTo>
                <a:lnTo>
                  <a:pt x="0" y="0"/>
                </a:lnTo>
                <a:close/>
              </a:path>
            </a:pathLst>
          </a:custGeom>
          <a:blipFill>
            <a:blip r:embed="rId4">
              <a:extLst>
                <a:ext uri="{96DAC541-7B7A-43D3-8B79-37D633B846F1}">
                  <asvg:svgBlip xmlns:asvg="http://schemas.microsoft.com/office/drawing/2016/SVG/main" r:embed="rId5"/>
                </a:ext>
              </a:extLst>
            </a:blip>
            <a:stretch>
              <a:fillRect l="-15291" r="-15291"/>
            </a:stretch>
          </a:blipFill>
        </p:spPr>
      </p:sp>
      <p:sp>
        <p:nvSpPr>
          <p:cNvPr id="9" name="TextBox 9"/>
          <p:cNvSpPr txBox="1"/>
          <p:nvPr/>
        </p:nvSpPr>
        <p:spPr>
          <a:xfrm>
            <a:off x="4702309" y="323854"/>
            <a:ext cx="4652214" cy="6386414"/>
          </a:xfrm>
          <a:prstGeom prst="rect">
            <a:avLst/>
          </a:prstGeom>
        </p:spPr>
        <p:txBody>
          <a:bodyPr lIns="0" tIns="0" rIns="0" bIns="0" rtlCol="0" anchor="t">
            <a:spAutoFit/>
          </a:bodyPr>
          <a:lstStyle/>
          <a:p>
            <a:pPr algn="l">
              <a:lnSpc>
                <a:spcPts val="3725"/>
              </a:lnSpc>
            </a:pPr>
            <a:endParaRPr/>
          </a:p>
          <a:p>
            <a:pPr marL="458296" lvl="1" indent="-229148" algn="l">
              <a:lnSpc>
                <a:spcPts val="2971"/>
              </a:lnSpc>
              <a:buAutoNum type="arabicPeriod"/>
            </a:pPr>
            <a:r>
              <a:rPr lang="en-US" sz="2122" b="1" spc="-280">
                <a:solidFill>
                  <a:srgbClr val="26499E"/>
                </a:solidFill>
                <a:latin typeface="Anonymous Pro Bold"/>
                <a:ea typeface="Anonymous Pro Bold"/>
                <a:cs typeface="Anonymous Pro Bold"/>
                <a:sym typeface="Anonymous Pro Bold"/>
              </a:rPr>
              <a:t>E</a:t>
            </a:r>
            <a:r>
              <a:rPr lang="en-US" sz="2122" spc="-280">
                <a:solidFill>
                  <a:srgbClr val="26499E"/>
                </a:solidFill>
                <a:latin typeface="Anonymous Pro"/>
                <a:ea typeface="Anonymous Pro"/>
                <a:cs typeface="Anonymous Pro"/>
                <a:sym typeface="Anonymous Pro"/>
              </a:rPr>
              <a:t>stonia has implemented a blockchain-based system for digital identities, enabling citizens to vote, access healthcare, and interact with government services online in a secure and transparent way. Source: (</a:t>
            </a:r>
            <a:r>
              <a:rPr lang="en-US" sz="2122" b="1" u="sng" spc="-280">
                <a:solidFill>
                  <a:srgbClr val="26499E"/>
                </a:solidFill>
                <a:latin typeface="Anonymous Pro Bold"/>
                <a:ea typeface="Anonymous Pro Bold"/>
                <a:cs typeface="Anonymous Pro Bold"/>
                <a:sym typeface="Anonymous Pro Bold"/>
                <a:hlinkClick r:id="rId6" tooltip="https://publicadministration.un.org/egovkb/en-us/Data-Center"/>
              </a:rPr>
              <a:t>https://publicadministration.un.org/egovkb/en-us/Data-Center</a:t>
            </a:r>
            <a:r>
              <a:rPr lang="en-US" sz="2122" spc="-280">
                <a:solidFill>
                  <a:srgbClr val="26499E"/>
                </a:solidFill>
                <a:latin typeface="Anonymous Pro"/>
                <a:ea typeface="Anonymous Pro"/>
                <a:cs typeface="Anonymous Pro"/>
                <a:sym typeface="Anonymous Pro"/>
              </a:rPr>
              <a:t>)</a:t>
            </a:r>
          </a:p>
          <a:p>
            <a:pPr marL="458296" lvl="1" indent="-229148" algn="l">
              <a:lnSpc>
                <a:spcPts val="2971"/>
              </a:lnSpc>
              <a:buAutoNum type="arabicPeriod"/>
            </a:pPr>
            <a:r>
              <a:rPr lang="en-US" sz="2122" spc="-280">
                <a:solidFill>
                  <a:srgbClr val="26499E"/>
                </a:solidFill>
                <a:latin typeface="Anonymous Pro"/>
                <a:ea typeface="Anonymous Pro"/>
                <a:cs typeface="Anonymous Pro"/>
                <a:sym typeface="Anonymous Pro"/>
              </a:rPr>
              <a:t>The highly populated country India’s State/UT wise Aadhaar Saturation </a:t>
            </a:r>
            <a:r>
              <a:rPr lang="en-US" sz="2122" u="sng" spc="-280">
                <a:solidFill>
                  <a:srgbClr val="26499E"/>
                </a:solidFill>
                <a:latin typeface="Anonymous Pro"/>
                <a:ea typeface="Anonymous Pro"/>
                <a:cs typeface="Anonymous Pro"/>
                <a:sym typeface="Anonymous Pro"/>
                <a:hlinkClick r:id="rId7" tooltip="https://uidai.gov.in/images/Aadhaar_Saturation_Report_31032024.pdf"/>
              </a:rPr>
              <a:t>https://uidai.gov.in/images/Aadhaar_Saturation_Report_31032024.pdf</a:t>
            </a:r>
          </a:p>
          <a:p>
            <a:pPr algn="l">
              <a:lnSpc>
                <a:spcPts val="2971"/>
              </a:lnSpc>
            </a:pPr>
            <a:endParaRPr lang="en-US" sz="2122" u="sng" spc="-280">
              <a:solidFill>
                <a:srgbClr val="26499E"/>
              </a:solidFill>
              <a:latin typeface="Anonymous Pro"/>
              <a:ea typeface="Anonymous Pro"/>
              <a:cs typeface="Anonymous Pro"/>
              <a:sym typeface="Anonymous Pro"/>
              <a:hlinkClick r:id="rId7" tooltip="https://uidai.gov.in/images/Aadhaar_Saturation_Report_31032024.pdf"/>
            </a:endParaRPr>
          </a:p>
          <a:p>
            <a:pPr algn="l">
              <a:lnSpc>
                <a:spcPts val="2971"/>
              </a:lnSpc>
            </a:pPr>
            <a:endParaRPr lang="en-US" sz="2122" u="sng" spc="-280">
              <a:solidFill>
                <a:srgbClr val="26499E"/>
              </a:solidFill>
              <a:latin typeface="Anonymous Pro"/>
              <a:ea typeface="Anonymous Pro"/>
              <a:cs typeface="Anonymous Pro"/>
              <a:sym typeface="Anonymous Pro"/>
              <a:hlinkClick r:id="rId7" tooltip="https://uidai.gov.in/images/Aadhaar_Saturation_Report_31032024.pdf"/>
            </a:endParaRPr>
          </a:p>
          <a:p>
            <a:pPr algn="l">
              <a:lnSpc>
                <a:spcPts val="2971"/>
              </a:lnSpc>
            </a:pPr>
            <a:endParaRPr lang="en-US" sz="2122" u="sng" spc="-280">
              <a:solidFill>
                <a:srgbClr val="26499E"/>
              </a:solidFill>
              <a:latin typeface="Anonymous Pro"/>
              <a:ea typeface="Anonymous Pro"/>
              <a:cs typeface="Anonymous Pro"/>
              <a:sym typeface="Anonymous Pro"/>
              <a:hlinkClick r:id="rId7" tooltip="https://uidai.gov.in/images/Aadhaar_Saturation_Report_31032024.pdf"/>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1161639" y="345518"/>
            <a:ext cx="6760432" cy="1211452"/>
          </a:xfrm>
          <a:custGeom>
            <a:avLst/>
            <a:gdLst/>
            <a:ahLst/>
            <a:cxnLst/>
            <a:rect l="l" t="t" r="r" b="b"/>
            <a:pathLst>
              <a:path w="6760432" h="1211452">
                <a:moveTo>
                  <a:pt x="0" y="0"/>
                </a:moveTo>
                <a:lnTo>
                  <a:pt x="6760432" y="0"/>
                </a:lnTo>
                <a:lnTo>
                  <a:pt x="6760432" y="1211452"/>
                </a:lnTo>
                <a:lnTo>
                  <a:pt x="0" y="1211452"/>
                </a:lnTo>
                <a:lnTo>
                  <a:pt x="0" y="0"/>
                </a:lnTo>
                <a:close/>
              </a:path>
            </a:pathLst>
          </a:custGeom>
          <a:blipFill>
            <a:blip r:embed="rId2"/>
            <a:stretch>
              <a:fillRect b="-2211"/>
            </a:stretch>
          </a:blipFill>
        </p:spPr>
      </p:sp>
      <p:sp>
        <p:nvSpPr>
          <p:cNvPr id="3" name="Freeform 3"/>
          <p:cNvSpPr/>
          <p:nvPr/>
        </p:nvSpPr>
        <p:spPr>
          <a:xfrm>
            <a:off x="201270" y="1964301"/>
            <a:ext cx="5115361" cy="2663116"/>
          </a:xfrm>
          <a:custGeom>
            <a:avLst/>
            <a:gdLst/>
            <a:ahLst/>
            <a:cxnLst/>
            <a:rect l="l" t="t" r="r" b="b"/>
            <a:pathLst>
              <a:path w="5115361" h="2663116">
                <a:moveTo>
                  <a:pt x="0" y="0"/>
                </a:moveTo>
                <a:lnTo>
                  <a:pt x="5115361" y="0"/>
                </a:lnTo>
                <a:lnTo>
                  <a:pt x="5115361" y="2663116"/>
                </a:lnTo>
                <a:lnTo>
                  <a:pt x="0" y="2663116"/>
                </a:lnTo>
                <a:lnTo>
                  <a:pt x="0" y="0"/>
                </a:lnTo>
                <a:close/>
              </a:path>
            </a:pathLst>
          </a:custGeom>
          <a:blipFill>
            <a:blip r:embed="rId3"/>
            <a:stretch>
              <a:fillRect r="-2471"/>
            </a:stretch>
          </a:blipFill>
        </p:spPr>
      </p:sp>
      <p:sp>
        <p:nvSpPr>
          <p:cNvPr id="4" name="Freeform 4"/>
          <p:cNvSpPr/>
          <p:nvPr/>
        </p:nvSpPr>
        <p:spPr>
          <a:xfrm>
            <a:off x="5450609" y="4144571"/>
            <a:ext cx="4159326" cy="2878317"/>
          </a:xfrm>
          <a:custGeom>
            <a:avLst/>
            <a:gdLst/>
            <a:ahLst/>
            <a:cxnLst/>
            <a:rect l="l" t="t" r="r" b="b"/>
            <a:pathLst>
              <a:path w="4159326" h="2878317">
                <a:moveTo>
                  <a:pt x="0" y="0"/>
                </a:moveTo>
                <a:lnTo>
                  <a:pt x="4159326" y="0"/>
                </a:lnTo>
                <a:lnTo>
                  <a:pt x="4159326" y="2878316"/>
                </a:lnTo>
                <a:lnTo>
                  <a:pt x="0" y="2878316"/>
                </a:lnTo>
                <a:lnTo>
                  <a:pt x="0" y="0"/>
                </a:lnTo>
                <a:close/>
              </a:path>
            </a:pathLst>
          </a:custGeom>
          <a:blipFill>
            <a:blip r:embed="rId4"/>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2733513"/>
            <a:ext cx="2660314" cy="1526088"/>
          </a:xfrm>
          <a:prstGeom prst="rect">
            <a:avLst/>
          </a:prstGeom>
        </p:spPr>
        <p:txBody>
          <a:bodyPr lIns="0" tIns="0" rIns="0" bIns="0" rtlCol="0" anchor="t">
            <a:spAutoFit/>
          </a:bodyPr>
          <a:lstStyle/>
          <a:p>
            <a:pPr algn="ctr">
              <a:lnSpc>
                <a:spcPts val="3034"/>
              </a:lnSpc>
            </a:pPr>
            <a:r>
              <a:rPr lang="en-US" sz="2167" b="1" spc="672">
                <a:solidFill>
                  <a:srgbClr val="FFFFFF"/>
                </a:solidFill>
                <a:latin typeface="Anonymous Pro Bold"/>
                <a:ea typeface="Anonymous Pro Bold"/>
                <a:cs typeface="Anonymous Pro Bold"/>
                <a:sym typeface="Anonymous Pro Bold"/>
              </a:rPr>
              <a:t>HERE’S HOW GOVERNMENTS CAN USE IT:</a:t>
            </a:r>
          </a:p>
          <a:p>
            <a:pPr algn="ctr">
              <a:lnSpc>
                <a:spcPts val="3034"/>
              </a:lnSpc>
            </a:pPr>
            <a:endParaRPr lang="en-US" sz="2167" b="1" spc="672">
              <a:solidFill>
                <a:srgbClr val="FFFFFF"/>
              </a:solidFill>
              <a:latin typeface="Anonymous Pro Bold"/>
              <a:ea typeface="Anonymous Pro Bold"/>
              <a:cs typeface="Anonymous Pro Bold"/>
              <a:sym typeface="Anonymous Pro Bold"/>
            </a:endParaRPr>
          </a:p>
        </p:txBody>
      </p:sp>
      <p:sp>
        <p:nvSpPr>
          <p:cNvPr id="3" name="Freeform 3"/>
          <p:cNvSpPr/>
          <p:nvPr/>
        </p:nvSpPr>
        <p:spPr>
          <a:xfrm>
            <a:off x="7724856"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4" name="Freeform 4"/>
          <p:cNvSpPr/>
          <p:nvPr/>
        </p:nvSpPr>
        <p:spPr>
          <a:xfrm>
            <a:off x="7724856"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5" name="Freeform 5"/>
          <p:cNvSpPr/>
          <p:nvPr/>
        </p:nvSpPr>
        <p:spPr>
          <a:xfrm>
            <a:off x="4151148" y="5223"/>
            <a:ext cx="5602452" cy="7315837"/>
          </a:xfrm>
          <a:custGeom>
            <a:avLst/>
            <a:gdLst/>
            <a:ahLst/>
            <a:cxnLst/>
            <a:rect l="l" t="t" r="r" b="b"/>
            <a:pathLst>
              <a:path w="5602452" h="7315837">
                <a:moveTo>
                  <a:pt x="0" y="0"/>
                </a:moveTo>
                <a:lnTo>
                  <a:pt x="5602452" y="0"/>
                </a:lnTo>
                <a:lnTo>
                  <a:pt x="5602452" y="7315837"/>
                </a:lnTo>
                <a:lnTo>
                  <a:pt x="0" y="7315837"/>
                </a:lnTo>
                <a:lnTo>
                  <a:pt x="0" y="0"/>
                </a:lnTo>
                <a:close/>
              </a:path>
            </a:pathLst>
          </a:custGeom>
          <a:blipFill>
            <a:blip r:embed="rId4">
              <a:extLst>
                <a:ext uri="{96DAC541-7B7A-43D3-8B79-37D633B846F1}">
                  <asvg:svgBlip xmlns:asvg="http://schemas.microsoft.com/office/drawing/2016/SVG/main" r:embed="rId5"/>
                </a:ext>
              </a:extLst>
            </a:blip>
            <a:stretch>
              <a:fillRect l="-15291" r="-15291"/>
            </a:stretch>
          </a:blipFill>
        </p:spPr>
      </p:sp>
      <p:sp>
        <p:nvSpPr>
          <p:cNvPr id="6" name="Freeform 6"/>
          <p:cNvSpPr/>
          <p:nvPr/>
        </p:nvSpPr>
        <p:spPr>
          <a:xfrm>
            <a:off x="370109" y="557349"/>
            <a:ext cx="9013382" cy="6583680"/>
          </a:xfrm>
          <a:custGeom>
            <a:avLst/>
            <a:gdLst/>
            <a:ahLst/>
            <a:cxnLst/>
            <a:rect l="l" t="t" r="r" b="b"/>
            <a:pathLst>
              <a:path w="9013382" h="6583680">
                <a:moveTo>
                  <a:pt x="0" y="0"/>
                </a:moveTo>
                <a:lnTo>
                  <a:pt x="9013382" y="0"/>
                </a:lnTo>
                <a:lnTo>
                  <a:pt x="9013382" y="6583680"/>
                </a:lnTo>
                <a:lnTo>
                  <a:pt x="0" y="6583680"/>
                </a:lnTo>
                <a:lnTo>
                  <a:pt x="0" y="0"/>
                </a:lnTo>
                <a:close/>
              </a:path>
            </a:pathLst>
          </a:custGeom>
          <a:blipFill>
            <a:blip r:embed="rId6"/>
            <a:stretch>
              <a:fillRect l="-12731" r="-12731"/>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6499E"/>
        </a:solidFill>
        <a:effectLst/>
      </p:bgPr>
    </p:bg>
    <p:spTree>
      <p:nvGrpSpPr>
        <p:cNvPr id="1" name=""/>
        <p:cNvGrpSpPr/>
        <p:nvPr/>
      </p:nvGrpSpPr>
      <p:grpSpPr>
        <a:xfrm>
          <a:off x="0" y="0"/>
          <a:ext cx="0" cy="0"/>
          <a:chOff x="0" y="0"/>
          <a:chExt cx="0" cy="0"/>
        </a:xfrm>
      </p:grpSpPr>
      <p:sp>
        <p:nvSpPr>
          <p:cNvPr id="2" name="Freeform 2"/>
          <p:cNvSpPr/>
          <p:nvPr/>
        </p:nvSpPr>
        <p:spPr>
          <a:xfrm>
            <a:off x="7724856"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3" name="Freeform 3"/>
          <p:cNvSpPr/>
          <p:nvPr/>
        </p:nvSpPr>
        <p:spPr>
          <a:xfrm>
            <a:off x="7724856"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4" name="Freeform 4"/>
          <p:cNvSpPr/>
          <p:nvPr/>
        </p:nvSpPr>
        <p:spPr>
          <a:xfrm>
            <a:off x="-2752644" y="-1305087"/>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5" name="Freeform 5"/>
          <p:cNvSpPr/>
          <p:nvPr/>
        </p:nvSpPr>
        <p:spPr>
          <a:xfrm>
            <a:off x="-2295444" y="4962363"/>
            <a:ext cx="4743450" cy="4095750"/>
          </a:xfrm>
          <a:custGeom>
            <a:avLst/>
            <a:gdLst/>
            <a:ahLst/>
            <a:cxnLst/>
            <a:rect l="l" t="t" r="r" b="b"/>
            <a:pathLst>
              <a:path w="4743450" h="4095750">
                <a:moveTo>
                  <a:pt x="0" y="0"/>
                </a:moveTo>
                <a:lnTo>
                  <a:pt x="4743450" y="0"/>
                </a:lnTo>
                <a:lnTo>
                  <a:pt x="4743450" y="4095750"/>
                </a:lnTo>
                <a:lnTo>
                  <a:pt x="0" y="4095750"/>
                </a:lnTo>
                <a:lnTo>
                  <a:pt x="0" y="0"/>
                </a:lnTo>
                <a:close/>
              </a:path>
            </a:pathLst>
          </a:custGeom>
          <a:blipFill>
            <a:blip r:embed="rId2">
              <a:alphaModFix amt="17000"/>
              <a:extLst>
                <a:ext uri="{96DAC541-7B7A-43D3-8B79-37D633B846F1}">
                  <asvg:svgBlip xmlns:asvg="http://schemas.microsoft.com/office/drawing/2016/SVG/main" r:embed="rId3"/>
                </a:ext>
              </a:extLst>
            </a:blip>
            <a:stretch>
              <a:fillRect l="-166" r="-166"/>
            </a:stretch>
          </a:blipFill>
        </p:spPr>
      </p:sp>
      <p:sp>
        <p:nvSpPr>
          <p:cNvPr id="6" name="Freeform 6"/>
          <p:cNvSpPr/>
          <p:nvPr/>
        </p:nvSpPr>
        <p:spPr>
          <a:xfrm>
            <a:off x="3667260" y="2223546"/>
            <a:ext cx="2509655" cy="2178191"/>
          </a:xfrm>
          <a:custGeom>
            <a:avLst/>
            <a:gdLst/>
            <a:ahLst/>
            <a:cxnLst/>
            <a:rect l="l" t="t" r="r" b="b"/>
            <a:pathLst>
              <a:path w="2509655" h="2178191">
                <a:moveTo>
                  <a:pt x="0" y="0"/>
                </a:moveTo>
                <a:lnTo>
                  <a:pt x="2509656" y="0"/>
                </a:lnTo>
                <a:lnTo>
                  <a:pt x="2509656" y="2178192"/>
                </a:lnTo>
                <a:lnTo>
                  <a:pt x="0" y="2178192"/>
                </a:lnTo>
                <a:lnTo>
                  <a:pt x="0" y="0"/>
                </a:lnTo>
                <a:close/>
              </a:path>
            </a:pathLst>
          </a:custGeom>
          <a:blipFill>
            <a:blip r:embed="rId4">
              <a:extLst>
                <a:ext uri="{96DAC541-7B7A-43D3-8B79-37D633B846F1}">
                  <asvg:svgBlip xmlns:asvg="http://schemas.microsoft.com/office/drawing/2016/SVG/main" r:embed="rId5"/>
                </a:ext>
              </a:extLst>
            </a:blip>
            <a:stretch>
              <a:fillRect l="-426" r="-426"/>
            </a:stretch>
          </a:blipFill>
        </p:spPr>
      </p:sp>
      <p:sp>
        <p:nvSpPr>
          <p:cNvPr id="7" name="TextBox 7"/>
          <p:cNvSpPr txBox="1"/>
          <p:nvPr/>
        </p:nvSpPr>
        <p:spPr>
          <a:xfrm>
            <a:off x="649214" y="4600878"/>
            <a:ext cx="8810625" cy="697865"/>
          </a:xfrm>
          <a:prstGeom prst="rect">
            <a:avLst/>
          </a:prstGeom>
        </p:spPr>
        <p:txBody>
          <a:bodyPr lIns="0" tIns="0" rIns="0" bIns="0" rtlCol="0" anchor="t">
            <a:spAutoFit/>
          </a:bodyPr>
          <a:lstStyle/>
          <a:p>
            <a:pPr algn="ctr">
              <a:lnSpc>
                <a:spcPts val="5634"/>
              </a:lnSpc>
            </a:pPr>
            <a:r>
              <a:rPr lang="en-US" sz="4025" b="1" spc="1247">
                <a:solidFill>
                  <a:srgbClr val="FFFFFF"/>
                </a:solidFill>
                <a:latin typeface="Anonymous Pro Bold"/>
                <a:ea typeface="Anonymous Pro Bold"/>
                <a:cs typeface="Anonymous Pro Bold"/>
                <a:sym typeface="Anonymous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496</Words>
  <Application>Microsoft Macintosh PowerPoint</Application>
  <PresentationFormat>Custom</PresentationFormat>
  <Paragraphs>40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Anonymous Pro</vt:lpstr>
      <vt:lpstr>Calibri</vt:lpstr>
      <vt:lpstr>Anonymous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Transformation</dc:title>
  <cp:lastModifiedBy>libraries</cp:lastModifiedBy>
  <cp:revision>2</cp:revision>
  <dcterms:created xsi:type="dcterms:W3CDTF">2006-08-16T00:00:00Z</dcterms:created>
  <dcterms:modified xsi:type="dcterms:W3CDTF">2025-05-02T01:24:10Z</dcterms:modified>
  <dc:identifier>DAGZrqeqOTA</dc:identifier>
</cp:coreProperties>
</file>